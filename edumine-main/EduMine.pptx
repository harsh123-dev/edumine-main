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3657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ACADEMIC CAPSTONE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EduMine: Integrated Educational Data Mining Framework</a:t>
            </a:r>
          </a:p>
          <a:p>
            <a:pPr>
              <a:spcBef>
                <a:spcPts val="800"/>
              </a:spcBef>
              <a:defRPr sz="1700">
                <a:solidFill>
                  <a:srgbClr val="0EA5E9"/>
                </a:solidFill>
                <a:latin typeface="Calibri"/>
              </a:defRPr>
            </a:pPr>
            <a:r>
              <a:t>An Intelligent Student Performance Analysis, Academic Risk Prediction &amp; Early Intervention System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End-to-End Supervised &amp; Unsupervised Machine Learning Web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411480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PRESENTED BY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Student Name: Animesh B Labh</a:t>
            </a:r>
            <a:br/>
            <a:r>
              <a:t>Reg. Number: [Your Registration Number]</a:t>
            </a:r>
            <a:br/>
            <a:r>
              <a:t>Department: Computer Science &amp; Engineering</a:t>
            </a:r>
            <a:br/>
            <a:r>
              <a:t>Institution: Vellore Institute of Technology (VIT)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931920"/>
            <a:ext cx="411480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PROJECT GUIDANCE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Project Guide: [Faculty Name]</a:t>
            </a:r>
            <a:br/>
            <a:r>
              <a:t>Designation: Associate Professor / Guide</a:t>
            </a:r>
            <a:br/>
            <a:r>
              <a:t>School: School of Computer Science &amp; Engineering (SCOPE)</a:t>
            </a:r>
            <a:br/>
            <a:r>
              <a:t>Repository: github.com/animeshlabh57-rgb/edumine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Introduction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Context, Motivation and the Role of Educational Data Mining (EDM)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64592" cy="2240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5448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1. Institutional Data Explosion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Higher educational institutions continuously record massive academic and behavioral data footprints, including continuous assessments, portal logons, assignment submissions, and attendance.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164592" cy="2240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2. Traditional Evaluation Blindspots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Conventional academic monitoring strictly relies on final marks and examinations post-facto. Vital behavioral precursors like weekly study drop-offs and low portal engagement are completely ignored.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64592" cy="22402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4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3. The Power of Educational Data Mining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EDM applies specialized machine learning, statistical patterns, and association algorithms to uncover hidden multi-dimensional dependencies between behavior and success.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164592" cy="2240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40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4. The EduMine Solution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EduMine consolidates data cleaning, association mining, cohort clustering, risk classification, grade regression, and prescriptive what-if intervention into an interactive web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Critical Gaps in Current Academic Monitoring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11480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CORE CHALLENGE</a:t>
            </a:r>
          </a:p>
          <a:p>
            <a:pPr>
              <a:spcBef>
                <a:spcPts val="1200"/>
              </a:spcBef>
              <a:defRPr sz="2000" b="1">
                <a:solidFill>
                  <a:srgbClr val="1E293B"/>
                </a:solidFill>
                <a:latin typeface="Segoe UI"/>
              </a:defRPr>
            </a:pPr>
            <a:r>
              <a:t>Academic failure is typically diagnosed after semester-end exams, rendering remedial counseling ineffective and too late.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Higher education lacks an automated, unified system capable of bridging behavioral metrics with predictive performance models to provide proactive, personalized interventions before exams occur.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371600"/>
            <a:ext cx="63093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554480"/>
            <a:ext cx="713232" cy="713232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!1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48132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Segoe UI"/>
              </a:defRPr>
            </a:pPr>
            <a:r>
              <a:t>Delayed Post-Mortem Diagnosis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Risk is realized only after poor grades or semester failure occurs. No real-time alerts exist during the active semester.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587752"/>
            <a:ext cx="63093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2770632"/>
            <a:ext cx="713232" cy="713232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!2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9748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Segoe UI"/>
              </a:defRPr>
            </a:pPr>
            <a:r>
              <a:t>Manual &amp; Fragmented Analysis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Advisors spend excessive hours cross-referencing disconnected spreadsheets containing attendance, quiz scores, and LMS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803904"/>
            <a:ext cx="63093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0" y="3986784"/>
            <a:ext cx="713232" cy="713232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!3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91363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Segoe UI"/>
              </a:defRPr>
            </a:pPr>
            <a:r>
              <a:t>Hidden Multi-Factor Dependencies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Simple threshold rules fail to reveal intricate correlations—e.g., how low study hours combined with high absenteeism compound failure risk.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5020056"/>
            <a:ext cx="630936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5202936"/>
            <a:ext cx="713232" cy="713232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!4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129784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Segoe UI"/>
              </a:defRPr>
            </a:pPr>
            <a:r>
              <a:t>One-Size-Fits-All Interventions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Institutions prescribe generic extra classes rather than tailored interventions targeting specific behavioral root-causes.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Project Objectives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Concrete Goals and Deliverables of the EduMine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290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Objective 1</a:t>
            </a:r>
            <a:br/>
            <a:r>
              <a:t>Unified Mining Platform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Develop a centralized, web-based educational data mining architecture accepting raw institutional CSV, Excel, or JSON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2900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Objective 2</a:t>
            </a:r>
            <a:br/>
            <a:r>
              <a:t>Association Rule Discovery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Implement Apriori association algorithms to identify hidden behavioral combinations leading to examination success or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371600"/>
            <a:ext cx="3429000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60020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Objective 3</a:t>
            </a:r>
            <a:br/>
            <a:r>
              <a:t>Unsupervised Student Segmentation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Cluster students into behavioral and academic personas using K-Means, Hierarchical, and DBSCAN with 2D PCA projections.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342900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Objective 4</a:t>
            </a:r>
            <a:br/>
            <a:r>
              <a:t>Early Risk Classification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Train and benchmark supervised classifiers (Random Forest, Gradient Boosting, SVM, etc.) to predict at-risk students with &gt;95% accuracy.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9476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3794760"/>
            <a:ext cx="34290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0233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Objective 5</a:t>
            </a:r>
            <a:br/>
            <a:r>
              <a:t>Continuous Grade Regression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Estimate precise expected final marks and GPA using ensemble regressors (Gradient Boosting, Ridge, SVR) with low error bounds.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79476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5280" y="3794760"/>
            <a:ext cx="342900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40233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Segoe UI"/>
              </a:defRPr>
            </a:pPr>
            <a:r>
              <a:t>Objective 6</a:t>
            </a:r>
            <a:br/>
            <a:r>
              <a:t>Diagnostic Anomaly Detection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Detect counter-intuitive academic profiles using Isolation Forests and generate actionable what-if intervention simulations.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Existing System vs. Proposed EduMine System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Comparative Paradigm Shift in Educational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77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92270"/>
                <a:gridCol w="399227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 Dimension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Institutional System</a:t>
                      </a:r>
                    </a:p>
                  </a:txBody>
                  <a:tcPr anchor="ctr"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EduMine Framework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Analysis Workflow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Manual spreadsheets, fragmented records, and delayed offline review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Automated, asynchronous web pipeline processing records in seconds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Narrowly restricted to exam scores and final semester grades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Holistic: combines study hours, attendance, assignments, and LMS engagement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Detection Timing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Reactive post-mortem (after exams are concluded)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Proactive early-warning during active semester for timely remediation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Analytical Depth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Basic averages, summary histograms, and static tables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Advanced ML: Association Rules, Clustering, Classification, Regression &amp; Anomalies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Student Segmentation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Simple arbitrary mark-cutoffs (e.g. &gt;75% Distinction)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Unsupervised ML clustering (K-Means, DBSCAN, PCA 2D cohort personas)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Remediation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Generic non-specific advice ('Work harder in all subjects')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Targeted what-if simulation sandbox with tailored action prescriptions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End-to-End Pipeline from Raw Ingestion to Interactive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1460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1: 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  <a:latin typeface="Calibri"/>
              </a:defRPr>
            </a:pPr>
            <a:r>
              <a:t>Raw Dataset Loader</a:t>
            </a:r>
            <a:br/>
            <a:r>
              <a:t>• CSV / XLSX / JSON formats</a:t>
            </a:r>
            <a:br/>
            <a:r>
              <a:t>• Synthetic (600 records)</a:t>
            </a:r>
            <a:br/>
            <a:r>
              <a:t>• UCI Student Performance</a:t>
            </a:r>
            <a:br/>
            <a:r>
              <a:t>• Intelligent Auto-Detector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64408" y="3108960"/>
            <a:ext cx="155448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251460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463040"/>
            <a:ext cx="25146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2: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4028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  <a:latin typeface="Calibri"/>
              </a:defRPr>
            </a:pPr>
            <a:r>
              <a:t>Data Engine &amp; Scaler</a:t>
            </a:r>
            <a:br/>
            <a:r>
              <a:t>• Missing Value Imputation</a:t>
            </a:r>
            <a:br/>
            <a:r>
              <a:t>• Target &amp; Feature Segregation</a:t>
            </a:r>
            <a:br/>
            <a:r>
              <a:t>• Standard &amp; MinMax Scaling</a:t>
            </a:r>
            <a:br/>
            <a:r>
              <a:t>• One-Hot Categorical Encoding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3108960"/>
            <a:ext cx="155448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251460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5146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3: Analytics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4028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  <a:latin typeface="Calibri"/>
              </a:defRPr>
            </a:pPr>
            <a:r>
              <a:t>Data Mining Core</a:t>
            </a:r>
            <a:br/>
            <a:r>
              <a:t>• Apriori Association Rules</a:t>
            </a:r>
            <a:br/>
            <a:r>
              <a:t>• K-Means &amp; DBSCAN Clusters</a:t>
            </a:r>
            <a:br/>
            <a:r>
              <a:t>• Supervised Risk Classifiers</a:t>
            </a:r>
            <a:br/>
            <a:r>
              <a:t>• Grade Regression Ensembles</a:t>
            </a:r>
            <a:br/>
            <a:r>
              <a:t>• Isolation Forest Outliers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59368" y="3108960"/>
            <a:ext cx="155448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23960" y="1463040"/>
            <a:ext cx="251460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23960" y="1463040"/>
            <a:ext cx="2514600" cy="640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4: Presentation &amp;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24028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  <a:latin typeface="Calibri"/>
              </a:defRPr>
            </a:pPr>
            <a:r>
              <a:t>Interactive Dashboard</a:t>
            </a:r>
            <a:br/>
            <a:r>
              <a:t>• FastAPI RESTful Web Endpoints</a:t>
            </a:r>
            <a:br/>
            <a:r>
              <a:t>• Glassmorphic CSS3 &amp; Chart.js</a:t>
            </a:r>
            <a:br/>
            <a:r>
              <a:t>• Real-Time What-If Sandbox</a:t>
            </a:r>
            <a:br/>
            <a:r>
              <a:t>• Actionable Intervention Plans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Key Architectural Strength: Decoupled Modular Design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Each mining engine functions independently via standardized APIs, enabling institutions to plug in custom data models without redesigning the UI or preprocessing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Technology Stack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Robust, High-Performance Software Framework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146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CORE LANGUAGE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Python 3.10+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Powers high-throughput data processing, machine learning model training, and analytical computation.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5146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55448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BACKEND WEB API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FastAPI &amp; Uvicorn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Asynchronous, production-grade REST API with auto-generated Swagger/OpenAPI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MACHINE LEARNING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Scikit-Learn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Standardized framework for supervised classifiers, regressors, K-Means clustering, and Isolation Forests.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1371600"/>
            <a:ext cx="25146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55448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DATA PROCESSING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Pandas &amp; NumPy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High-performance vectorized data manipulation, missing value imputation, and correlation calculations.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251460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4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PATTERN MINING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MLxtend &amp; Native Apriori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Vectorized frequent itemset extraction with support, confidence, lift, and leverage metrics.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79476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9000" y="3794760"/>
            <a:ext cx="251460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97764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FRONTEND UI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HTML5 &amp; Vanilla CSS3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Ultra-responsive glassmorphism layout, dynamic light/dark theming, and zero bloated frameworks.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79476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3794760"/>
            <a:ext cx="251460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7764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DATA VISUALIZATIONS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Chart.js &amp; HTML5 Canvas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Interactive radar plots, scatter charts, confusion matrix heatmaps, and rule network dependency graphs.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794760"/>
            <a:ext cx="25146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23960" y="3794760"/>
            <a:ext cx="251460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3977640"/>
            <a:ext cx="2148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FILE INGESTION</a:t>
            </a:r>
          </a:p>
          <a:p>
            <a:pPr>
              <a:spcBef>
                <a:spcPts val="300"/>
              </a:spcBef>
              <a:defRPr sz="1500" b="1">
                <a:solidFill>
                  <a:srgbClr val="1E293B"/>
                </a:solidFill>
                <a:latin typeface="Segoe UI"/>
              </a:defRPr>
            </a:pPr>
            <a:r>
              <a:t>OpenPyXL &amp; CSV Parsers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Instant multi-format parser supporting institutional XLSX, CSV, and JSON student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Dataset Description &amp; Preprocessing Pipeline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Multi-Source Student Behavioral &amp; Academic Attributes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DATASET SPECIFICATIONS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Synthetic Cohort Dataset: 600 realistic student academic and engagement records generated with realistic latent student profiles (Disengaged, Average, Diligent).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UCI Student Performance Dataset: 649 secondary school student records (student-por.csv) from Portuguese secondary schools with 33 academic and socio-economic attributes.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Key Analyzed Features: Attendance Percentage (%), Study Hours/Week, LMS Portal Activity, Assignment Completion Rate, Midterm Examination Scores, and Past Failures.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Target Outcomes: Academic Risk Status (At-Risk vs Safe) and Final Examination Grade / GPA.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Segoe UI"/>
              </a:defRPr>
            </a:pPr>
            <a:r>
              <a:t>DATA PREPROCESSING WORKFLOW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Intelligent Column Detection: Automatically detects identifiers (Student_ID), regression targets (Final_Exam, G3), and classification labels without manual configuration.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Missing Value Imputation: Fills missing continuous metrics using median imputation and categorical variables using mode/unknown categorization.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Categorical Transformation: Applies One-Hot Encoding (OHE) for algorithms requiring numerical vectors (Regression, SVM, Neural Nets).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Feature Normalization &amp; Scaling: Utilizes StandardScaler (mean=0, std=1) for distance-sensitive algorithms (KNN, SVR, K-Means) and MinMaxScaler for itemsets.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Train/Test Partitioning: Executes 75/25 stratified train-test splits and 5-fold cross-validation to prevent data leakage and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Association Rule Mining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Uncovering Latent Academic Patterns using the Apriori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MATHEMATICAL EVALUATION MEASURES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Support: Support(A → B) = P(A ∩ B) — Frequency of itemset A and B co-occurring across all students.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Confidence: Confidence(A → B) = P(B | A) = Support(A ∩ B) / Support(A) — Conditional probability that B occurs given A.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Lift: Lift(A → B) = Support(A ∩ B) / [Support(A) × Support(B)] — Strength of rule over random co-occurrence (&gt;1 = positive association).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Segoe UI"/>
              </a:defRPr>
            </a:pPr>
            <a:r>
              <a:t>CONTINUOUS-TO-CATEGORICAL DISCRETIZATION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Continuous behavioral variables are mapped into educational quintiles before mining:</a:t>
            </a:r>
            <a:br/>
            <a:r>
              <a:t>• Attendance: Low (&lt;70%), Moderate (70-85%), High (&gt;85%)</a:t>
            </a:r>
            <a:br/>
            <a:r>
              <a:t>• Study Hours: Low (&lt;8 hrs/wk), Moderate (8-18 hrs), Diligent (&gt;18 hrs)</a:t>
            </a:r>
            <a:br/>
            <a:r>
              <a:t>• Assignment Scores: Incomplete (&lt;60%), Average (60-80%), High (&gt;80%)</a:t>
            </a:r>
            <a:br/>
            <a:r>
              <a:t>• Academic Outcome: At-Risk vs Safe / Distinction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Segoe UI"/>
              </a:defRPr>
            </a:pPr>
            <a:r>
              <a:t>HIGH-IMPACT DISCOVERED ASSOCIATION RULES (SAMPLE EXTRACT FROM EDUMINE)</a:t>
            </a:r>
          </a:p>
          <a:p>
            <a:pPr>
              <a:spcBef>
                <a:spcPts val="600"/>
              </a:spcBef>
              <a:defRPr sz="1200">
                <a:solidFill>
                  <a:srgbClr val="2563EB"/>
                </a:solidFill>
                <a:latin typeface="Calibri"/>
              </a:defRPr>
            </a:pPr>
            <a:r>
              <a:t>Rule 1 (Critical Risk):  Low Attendance (&lt;70%) ∧ Low Study Hours (&lt;8 hrs) → Academic Risk   [Support: 0.16 (16%) | Confidence: 0.92 (92%) | Lift: 3.32x]</a:t>
            </a:r>
          </a:p>
          <a:p>
            <a:pPr>
              <a:spcBef>
                <a:spcPts val="600"/>
              </a:spcBef>
              <a:defRPr sz="1200">
                <a:solidFill>
                  <a:srgbClr val="2563EB"/>
                </a:solidFill>
                <a:latin typeface="Calibri"/>
              </a:defRPr>
            </a:pPr>
            <a:r>
              <a:t>Rule 2 (Intervention Gap):  Low Midterm (&lt;55) ∧ Incomplete Assignments (&lt;60%) → Final Failure   [Support: 0.14 (14%) | Confidence: 0.88 (88%) | Lift: 2.85x]</a:t>
            </a:r>
          </a:p>
          <a:p>
            <a:pPr>
              <a:spcBef>
                <a:spcPts val="600"/>
              </a:spcBef>
              <a:defRPr sz="1200">
                <a:solidFill>
                  <a:srgbClr val="2563EB"/>
                </a:solidFill>
                <a:latin typeface="Calibri"/>
              </a:defRPr>
            </a:pPr>
            <a:r>
              <a:t>Rule 3 (Excellence Pattern):  High Attendance (&gt;90%) ∧ LMS Engagement (&gt;14 hrs) → Grade A / Safe   [Support: 0.28 (28%) | Confidence: 0.95 (95%) | Lift: 1.45x]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Student Clustering &amp; Cohort Segmentation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Unsupervised Persona Profiling with K-Means, DBSCAN &amp; 2D PCA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290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Cluster 1: High-Flying Diligent Achievers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63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Size: ~30% of Cohort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Average Study Hours: 24.2 hrs/week</a:t>
            </a:r>
            <a:br/>
            <a:r>
              <a:t>• Average Attendance: 92.5%</a:t>
            </a:r>
            <a:br/>
            <a:r>
              <a:t>• Assignment Completion: 89.2%</a:t>
            </a:r>
            <a:br/>
            <a:r>
              <a:t>• Final Exam Average: 84.8 / 100</a:t>
            </a:r>
            <a:br/>
            <a:r>
              <a:t>• Academic Risk: 0% (Safe)</a:t>
            </a:r>
            <a:br/>
            <a:r>
              <a:t>• Action: Advanced research projects, honors mentorship, and peer tutor roles.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290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290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Cluster 2: Consistent Moderate 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63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Size: ~45% of Cohort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Average Study Hours: 14.1 hrs/week</a:t>
            </a:r>
            <a:br/>
            <a:r>
              <a:t>• Average Attendance: 81.3%</a:t>
            </a:r>
            <a:br/>
            <a:r>
              <a:t>• Assignment Completion: 73.8%</a:t>
            </a:r>
            <a:br/>
            <a:r>
              <a:t>• Final Exam Average: 68.4 / 100</a:t>
            </a:r>
            <a:br/>
            <a:r>
              <a:t>• Academic Risk: 4.8% (Minor)</a:t>
            </a:r>
            <a:br/>
            <a:r>
              <a:t>• Action: Targeted concept-strengthening and motivational study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290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371600"/>
            <a:ext cx="342900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Cluster 3: Disengaged / At-Risk Cohort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0632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Size: ~25% of Cohort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Average Study Hours: 6.2 hrs/week</a:t>
            </a:r>
            <a:br/>
            <a:r>
              <a:t>• Average Attendance: 64.1%</a:t>
            </a:r>
            <a:br/>
            <a:r>
              <a:t>• Assignment Completion: 52.4%</a:t>
            </a:r>
            <a:br/>
            <a:r>
              <a:t>• Final Exam Average: 44.6 / 100</a:t>
            </a:r>
            <a:br/>
            <a:r>
              <a:t>• Academic Risk: 88.5% (High)</a:t>
            </a:r>
            <a:br/>
            <a:r>
              <a:t>• Action: Mandatory academic counselor check-ins, attendance warnings, remedial clinics.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Clustering Diagnostics &amp; Dimensionality Reduction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Optimal cluster count (k=3) validated via the Elbow Method (Sum of Squared Errors) and Silhouette Score (0.42). Principal Component Analysis (PCA) projects high-dimensional metrics onto a 2D interactive coordinate plane.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Academic Risk Classification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Benchmarking Supervised Learning Models for Proactive Alerting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685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43000"/>
                <a:gridCol w="1143000"/>
                <a:gridCol w="1143000"/>
                <a:gridCol w="1143000"/>
              </a:tblGrid>
              <a:tr h="56170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Name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CV-Mean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97.33%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95.12%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97.33%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Support Vector Machine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97.33%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95.00%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0.975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96.2%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95.33%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91.36%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K-Nearest Neighbors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95.33%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91.36%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0.979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92.00%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86.05%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371600"/>
            <a:ext cx="3639312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50876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FEATURE IMPORTANCE HIERARCHY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Random Forest Gini Impurity reduction identifies the most influential predictors of academic failure:</a:t>
            </a:r>
            <a:br/>
            <a:br/>
            <a:r>
              <a:t>1. Attendance % (34.2%)</a:t>
            </a:r>
            <a:br/>
            <a:r>
              <a:t>   Strongest single predictor of student completion.</a:t>
            </a:r>
            <a:br/>
            <a:r>
              <a:t>2. Midterm Score (26.5%)</a:t>
            </a:r>
            <a:br/>
            <a:r>
              <a:t>   Early exam gap compounds into final risk.</a:t>
            </a:r>
            <a:br/>
            <a:r>
              <a:t>3. Assignment Rate (18.7%)</a:t>
            </a:r>
            <a:br/>
            <a:r>
              <a:t>   Continuous engagement buffer.</a:t>
            </a:r>
            <a:br/>
            <a:r>
              <a:t>4. Study Hours (12.4%)</a:t>
            </a:r>
            <a:br/>
            <a:r>
              <a:t>   Weekly effort foundation.</a:t>
            </a:r>
            <a:br/>
            <a:r>
              <a:t>5. Past Failures (8.2%)</a:t>
            </a:r>
            <a:br/>
            <a:r>
              <a:t>   Historical academic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Evaluation Summary: Outstanding Predictive Reliability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Classifiers attain up to 97.33% testing accuracy and 0.989 ROC-AUC. 5-fold cross-validation verifies that predictions do not suffer from synthetic dataset overfitting or data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Grade Prediction &amp; Anomaly Detection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Continuous Marks Estimation (Regression) &amp; Outlier 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CONTINUOUS GRADE REGRESSION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Estimates exact expected final marks (0-100) and GPA (0-4.0 scale):</a:t>
            </a:r>
            <a:br/>
            <a:br/>
            <a:r>
              <a:t>• Lasso Regression: R² = 0.9165 (91.7% variance), RMSE = 4.80, MAE = 3.96</a:t>
            </a:r>
            <a:br/>
            <a:r>
              <a:t>• Ridge Regression: R² = 0.9125 (91.3% variance), RMSE = 4.91, MAE = 4.06</a:t>
            </a:r>
            <a:br/>
            <a:r>
              <a:t>• Random Forest Regressor: R² = 0.8983 (89.8%), RMSE = 5.29, MAE = 4.16</a:t>
            </a:r>
            <a:br/>
            <a:r>
              <a:t>• Gradient Boosting Regressor: R² = 0.8968 (89.7%), RMSE = 5.34, MAE = 4.32</a:t>
            </a:r>
            <a:br/>
            <a:r>
              <a:t>• Support Vector Regressor: R² = 0.8344 (83.4%), RMSE = 6.76, MAE = 5.01</a:t>
            </a:r>
            <a:br/>
            <a:br/>
            <a:r>
              <a:t>Significance: Enables fine-grained grade letter forecasting (O, A+, A, B, C, F) rather than crude binary pass/fail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ISOLATION FOREST ANOMALY DETECTION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Isolates counter-intuitive or abnormal student behaviors:</a:t>
            </a:r>
            <a:br/>
            <a:br/>
            <a:r>
              <a:t>• Contamination Factor: Tunable threshold (default 5.0% of cohort)</a:t>
            </a:r>
            <a:br/>
            <a:r>
              <a:t>• Mechanism: Builds tree partitions to isolate anomalous records in few splits</a:t>
            </a:r>
            <a:br/>
            <a:br/>
            <a:r>
              <a:t>Diagnostic Anomaly Profiles Detected:</a:t>
            </a:r>
            <a:br/>
            <a:r>
              <a:t>1. High Attendance with Unexpected Failure:</a:t>
            </a:r>
            <a:br/>
            <a:r>
              <a:t>   Student attends 95% of classes but scores &lt;40% on examinations. Points to test anxiety or fundamental comprehension barriers.</a:t>
            </a:r>
            <a:br/>
            <a:br/>
            <a:r>
              <a:t>2. High Exam Marks with Zero Engagement:</a:t>
            </a:r>
            <a:br/>
            <a:r>
              <a:t>   Student has &lt;50% attendance and low LMS hours yet achieves 90%+. Points to external tutoring, exam malpractice, or prior mastery.</a:t>
            </a:r>
            <a:br/>
            <a:br/>
            <a:r>
              <a:t>Benefit: Flags unique cases that standard linear models fail to explain.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Early Intervention &amp; What-If Simulation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Prescriptive Counseling Automation and Scenario Modeling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Segoe UI"/>
              </a:defRPr>
            </a:pPr>
            <a:r>
              <a:t>TARGETED REMEDIATION ENGINE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Attendance Deficit (&lt;72%):</a:t>
            </a:r>
            <a:br/>
            <a:r>
              <a:t>  Triggers automated official attendance alert and schedules mandatory session with faculty mentor.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Assignment Friction (&lt;65%):</a:t>
            </a:r>
            <a:br/>
            <a:r>
              <a:t>  Automatically enrolls student in homework coaching clinics and assigns collaborative peer group.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Midterm Examination Gap (&lt;55):</a:t>
            </a:r>
            <a:br/>
            <a:r>
              <a:t>  Mandates diagnostic 1-on-1 problem-solving tutorial review to address syllabus misunderstandings.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• Low Study Hours (&lt;8 hrs/wk):</a:t>
            </a:r>
            <a:br/>
            <a:r>
              <a:t>  Pairs student with high-achieving peer study buddy targeting a minimum 14 hrs/week study regimen.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LIVE WHAT-IF SIMULATION SANDBOX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The web dashboard enables faculty and academic advisors to dynamically slide behavioral levers and observe real-time model re-estimation:</a:t>
            </a:r>
            <a:br/>
            <a:br/>
            <a:r>
              <a:t>Baseline Profile (STU-1042):</a:t>
            </a:r>
            <a:br/>
            <a:r>
              <a:t>• Attendance: 62% | Study: 5 hrs/wk | Midterm: 48</a:t>
            </a:r>
            <a:br/>
            <a:r>
              <a:t>• Model Output: 88.4% Risk Probability (Grade F / 42.1 marks)</a:t>
            </a:r>
            <a:br/>
            <a:br/>
            <a:r>
              <a:t>Simulated Intervention Adjustments:</a:t>
            </a:r>
            <a:br/>
            <a:r>
              <a:t>• Boost Attendance: 62% → 85% (+23%)</a:t>
            </a:r>
            <a:br/>
            <a:r>
              <a:t>• Increase Study Time: 5 → 14 hrs/wk (+9 hrs)</a:t>
            </a:r>
            <a:br/>
            <a:r>
              <a:t>• Complete Assignments: 50% → 80% (+30%)</a:t>
            </a:r>
            <a:br/>
            <a:br/>
            <a:r>
              <a:t>Simulated Real-Time Outcome:</a:t>
            </a:r>
            <a:br/>
            <a:r>
              <a:t>• Risk Probability Drops: 88.4% → 11.2% (-77.2% Risk Reduction!)</a:t>
            </a:r>
            <a:br/>
            <a:r>
              <a:t>• Projected Grade: 42.1 (F) → 71.5 (A - Very Good)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Results &amp; Discussion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Summary of Verified Empirical Outputs &amp; Web Dashboard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Dashboard &amp; Data Explorer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• 600 records loaded with dynamic KPIs.</a:t>
            </a:r>
            <a:br/>
            <a:r>
              <a:t>• Real-time at-risk rate: 27.7% baseline.</a:t>
            </a:r>
            <a:br/>
            <a:r>
              <a:t>• Searchable, paginated student table with color-coded risk flags.</a:t>
            </a:r>
            <a:br/>
            <a:r>
              <a:t>• One-click institutional CSV/Excel file uploader.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Apriori Association Mining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• Generated 24 high-confidence educational rules.</a:t>
            </a:r>
            <a:br/>
            <a:r>
              <a:t>• Strongest risk rule: Low Attendance + Low Study → Risk (Lift 3.32x, Conf 92%).</a:t>
            </a:r>
            <a:br/>
            <a:r>
              <a:t>• Dynamic interactive network canvas graph visualizing rule antecedents &amp; consequents.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257800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Multi-Model Risk Benchmark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• Logistic Regression &amp; Random Forest achieved 97.33% accuracy.</a:t>
            </a:r>
            <a:br/>
            <a:r>
              <a:t>• ROC-AUC of 0.989 confirms pristine discriminatory power.</a:t>
            </a:r>
            <a:br/>
            <a:r>
              <a:t>• 5-fold cross-validation standard deviation &lt; 1.2% across folds.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257800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Segoe UI"/>
              </a:defRPr>
            </a:pPr>
            <a:r>
              <a:t>Grade Regression &amp; Simulator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• Lasso and Ridge regression explain 91.65% and 91.25% variance (R²).</a:t>
            </a:r>
            <a:br/>
            <a:r>
              <a:t>• Average prediction error constrained within ±3.96 marks (MAE).</a:t>
            </a:r>
            <a:br/>
            <a:r>
              <a:t>• Interactive what-if sandbox proves actionable remediation roadmap.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"/>
              </a:defRPr>
            </a:pPr>
            <a:r>
              <a:t>Conclusion &amp; Future Scope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Research Takeaways and Roadmaps for Institutional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EduMine: Integrated Educational Data Mining Framework | Vellore Institute of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RESEARCH CONCLUSIONS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Unified Educational Platform:</a:t>
            </a:r>
            <a:br/>
            <a:r>
              <a:t>  EduMine successfully brings together preprocessing, association rules, clustering, classification, regression, and anomaly detection into one cohesive web suite.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Proactive vs Reactive Shift:</a:t>
            </a:r>
            <a:br/>
            <a:r>
              <a:t>  Shifts the academic paradigm from post-failure reaction to early mid-semester identification, granting faculty crucial time to intervene.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Empirical Superiority:</a:t>
            </a:r>
            <a:br/>
            <a:r>
              <a:t>  Supervised classifiers achieve 97.33% accuracy, while regression models explain over 91.6% of grade variance with low error (MAE 3.96).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✔ Actionable Insights:</a:t>
            </a:r>
            <a:br/>
            <a:r>
              <a:t>  What-if simulation bridges machine learning predictions directly with practical counseling prescriptions.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  <a:latin typeface="Segoe UI"/>
              </a:defRPr>
            </a:pPr>
            <a:r>
              <a:t>FUTURE RESEARCH &amp; EXTENSIONS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🚀 Institutional LMS Integration:</a:t>
            </a:r>
            <a:br/>
            <a:r>
              <a:t>  Direct API webhooks connecting with Canvas, Moodle, and Blackboard for automated nightly sync of student portal telemetry.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🚀 Explainable AI (XAI):</a:t>
            </a:r>
            <a:br/>
            <a:r>
              <a:t>  Embedding SHAP (SHapley Additive exPlanations) and LIME to generate individualized, feature-by-feature rationale for counselor audits.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🚀 Deep Learning Sequential Models:</a:t>
            </a:r>
            <a:br/>
            <a:r>
              <a:t>  Deploying LSTM / GRU recurrent architectures to analyze time-series clickstream trajectories over 4-year degree programs.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🚀 Multi-Institutional Validation:</a:t>
            </a:r>
            <a:br/>
            <a:r>
              <a:t>  Expanding benchmarking across diverse university disciplines and demographics to validate cross-domain generalizability.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